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8"/>
    <p:restoredTop sz="93301" autoAdjust="0"/>
  </p:normalViewPr>
  <p:slideViewPr>
    <p:cSldViewPr snapToGrid="0">
      <p:cViewPr varScale="1">
        <p:scale>
          <a:sx n="72" d="100"/>
          <a:sy n="72" d="100"/>
        </p:scale>
        <p:origin x="32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LISA GIAMPETRUZZI" userId="7702e080-6f4f-4485-9421-b55e8bd01b74" providerId="ADAL" clId="{A07E1BE6-C162-4E29-878F-25DEAA55CA53}"/>
    <pc:docChg chg="modSld">
      <pc:chgData name="ANNALISA GIAMPETRUZZI" userId="7702e080-6f4f-4485-9421-b55e8bd01b74" providerId="ADAL" clId="{A07E1BE6-C162-4E29-878F-25DEAA55CA53}" dt="2024-08-09T14:37:34.090" v="14" actId="20577"/>
      <pc:docMkLst>
        <pc:docMk/>
      </pc:docMkLst>
      <pc:sldChg chg="modNotesTx">
        <pc:chgData name="ANNALISA GIAMPETRUZZI" userId="7702e080-6f4f-4485-9421-b55e8bd01b74" providerId="ADAL" clId="{A07E1BE6-C162-4E29-878F-25DEAA55CA53}" dt="2024-08-09T14:37:34.090" v="14" actId="20577"/>
        <pc:sldMkLst>
          <pc:docMk/>
          <pc:sldMk cId="417835162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35447-8C18-47D8-BEE5-86935372F490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1924A-03D6-4E9E-A155-99A971DA48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36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dirty="0" err="1"/>
              <a:t>Supplementary</a:t>
            </a:r>
            <a:r>
              <a:rPr lang="it-IT" sz="1200" b="1" dirty="0"/>
              <a:t> Figure 8.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Onset of symptoms recorded on few </a:t>
            </a:r>
            <a:r>
              <a:rPr lang="en-GB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Xfp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-inoculated replicates  16 months after vector inoculation.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a) Plant of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Cellina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di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Nardò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showing dieback and withering; b) Plant of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Cellina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di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Nardò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with severe desiccation; c) Plant of the genotype S218 with initial shoot dieback; d) Plants of the genotype S234 showing only defoliation. 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924A-03D6-4E9E-A155-99A971DA4811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1183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560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588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769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1858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779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786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926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341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574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924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180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C0FDA-F94A-4AC5-BF9E-B0EEAD1288C9}" type="datetimeFigureOut">
              <a:rPr lang="it-IT" smtClean="0"/>
              <a:t>09/08/2024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39B27-FD1D-4E18-8E24-61AB3936679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924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pianta, aria aperta, terreno&#10;&#10;Descrizione generata automaticamente">
            <a:extLst>
              <a:ext uri="{FF2B5EF4-FFF2-40B4-BE49-F238E27FC236}">
                <a16:creationId xmlns:a16="http://schemas.microsoft.com/office/drawing/2014/main" id="{6628E34A-1453-4499-9069-840045EBF8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11" r="26839"/>
          <a:stretch/>
        </p:blipFill>
        <p:spPr>
          <a:xfrm>
            <a:off x="3829017" y="5171769"/>
            <a:ext cx="2876583" cy="3646539"/>
          </a:xfrm>
          <a:prstGeom prst="rect">
            <a:avLst/>
          </a:prstGeom>
        </p:spPr>
      </p:pic>
      <p:pic>
        <p:nvPicPr>
          <p:cNvPr id="5" name="Immagine 4" descr="Immagine che contiene pianta, pianta da appartamento, ramo, albero&#10;&#10;Descrizione generata automaticamente">
            <a:extLst>
              <a:ext uri="{FF2B5EF4-FFF2-40B4-BE49-F238E27FC236}">
                <a16:creationId xmlns:a16="http://schemas.microsoft.com/office/drawing/2014/main" id="{C64117B5-0B64-A38C-952D-BA7CD551E8D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1000" contras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937" t="5694" r="2264"/>
          <a:stretch/>
        </p:blipFill>
        <p:spPr>
          <a:xfrm>
            <a:off x="835551" y="5203780"/>
            <a:ext cx="2159677" cy="3647814"/>
          </a:xfrm>
          <a:prstGeom prst="rect">
            <a:avLst/>
          </a:prstGeom>
        </p:spPr>
      </p:pic>
      <p:pic>
        <p:nvPicPr>
          <p:cNvPr id="6" name="Immagine 5" descr="Immagine che contiene pianta da appartamento, vaso da fiori, pianta&#10;&#10;Descrizione generata automaticamente">
            <a:extLst>
              <a:ext uri="{FF2B5EF4-FFF2-40B4-BE49-F238E27FC236}">
                <a16:creationId xmlns:a16="http://schemas.microsoft.com/office/drawing/2014/main" id="{C7C07962-1A75-342C-02F7-AE1EC316E95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4000" contras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03" t="15278" r="5391"/>
          <a:stretch/>
        </p:blipFill>
        <p:spPr>
          <a:xfrm>
            <a:off x="946258" y="1136890"/>
            <a:ext cx="2199165" cy="3430922"/>
          </a:xfrm>
          <a:prstGeom prst="rect">
            <a:avLst/>
          </a:prstGeom>
        </p:spPr>
      </p:pic>
      <p:pic>
        <p:nvPicPr>
          <p:cNvPr id="8" name="Immagine 7" descr="Immagine che contiene muro, asta, ramo, arte&#10;&#10;Descrizione generata automaticamente">
            <a:extLst>
              <a:ext uri="{FF2B5EF4-FFF2-40B4-BE49-F238E27FC236}">
                <a16:creationId xmlns:a16="http://schemas.microsoft.com/office/drawing/2014/main" id="{F1A80D21-4560-4DAC-C1C1-85DA2E6C431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690" t="24368" r="19982" b="-1"/>
          <a:stretch/>
        </p:blipFill>
        <p:spPr>
          <a:xfrm>
            <a:off x="4171681" y="1119226"/>
            <a:ext cx="1883831" cy="3430922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DDE9DE6-DE94-4BC2-EE89-C705197189DA}"/>
              </a:ext>
            </a:extLst>
          </p:cNvPr>
          <p:cNvSpPr txBox="1"/>
          <p:nvPr/>
        </p:nvSpPr>
        <p:spPr>
          <a:xfrm>
            <a:off x="135689" y="151362"/>
            <a:ext cx="6622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</a:t>
            </a:r>
            <a:r>
              <a:rPr lang="it-I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Figure 8.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recorded on 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-infected plants 16 months (16mvpi) 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BED46AC-EBE2-3D43-5B28-2E5C1723E3C2}"/>
              </a:ext>
            </a:extLst>
          </p:cNvPr>
          <p:cNvSpPr txBox="1"/>
          <p:nvPr/>
        </p:nvSpPr>
        <p:spPr>
          <a:xfrm>
            <a:off x="298500" y="867319"/>
            <a:ext cx="317716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it-IT" dirty="0">
                <a:cs typeface="Times New Roman"/>
              </a:rPr>
              <a:t>A</a:t>
            </a:r>
            <a:endParaRPr lang="it-IT" dirty="0">
              <a:cs typeface="Times New Roman" panose="02020603050405020304" pitchFamily="18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C950B0F-4EBB-7244-F142-AB048E10F9DF}"/>
              </a:ext>
            </a:extLst>
          </p:cNvPr>
          <p:cNvSpPr txBox="1"/>
          <p:nvPr/>
        </p:nvSpPr>
        <p:spPr>
          <a:xfrm>
            <a:off x="3381752" y="867319"/>
            <a:ext cx="30970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it-IT" dirty="0"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9B53217-ED94-DE26-D96F-29EAE4371AE3}"/>
              </a:ext>
            </a:extLst>
          </p:cNvPr>
          <p:cNvSpPr txBox="1"/>
          <p:nvPr/>
        </p:nvSpPr>
        <p:spPr>
          <a:xfrm>
            <a:off x="298500" y="4760218"/>
            <a:ext cx="30809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it-IT" dirty="0"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8FCA09C-6FF5-75EF-6D17-ADA8FA861369}"/>
              </a:ext>
            </a:extLst>
          </p:cNvPr>
          <p:cNvSpPr txBox="1"/>
          <p:nvPr/>
        </p:nvSpPr>
        <p:spPr>
          <a:xfrm>
            <a:off x="3249303" y="4760218"/>
            <a:ext cx="32733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it-IT" dirty="0">
                <a:cs typeface="Times New Roman"/>
              </a:rPr>
              <a:t>D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58A11391-3E58-1E13-CC3F-CB7D8ADA1104}"/>
              </a:ext>
            </a:extLst>
          </p:cNvPr>
          <p:cNvSpPr txBox="1"/>
          <p:nvPr/>
        </p:nvSpPr>
        <p:spPr>
          <a:xfrm rot="16200000">
            <a:off x="-981923" y="2651548"/>
            <a:ext cx="343092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Cellina di </a:t>
            </a:r>
            <a:r>
              <a:rPr lang="it-IT" b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ardò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7250BE9-DFB4-D6DF-F82E-D3F99A37ADC2}"/>
              </a:ext>
            </a:extLst>
          </p:cNvPr>
          <p:cNvSpPr txBox="1"/>
          <p:nvPr/>
        </p:nvSpPr>
        <p:spPr>
          <a:xfrm rot="16200000">
            <a:off x="-1227148" y="6818467"/>
            <a:ext cx="36207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S218 (Leccino X Cellina di </a:t>
            </a: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N.ardò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97BBA30F-6202-E71E-DBE6-8A5CE428A46E}"/>
              </a:ext>
            </a:extLst>
          </p:cNvPr>
          <p:cNvSpPr txBox="1"/>
          <p:nvPr/>
        </p:nvSpPr>
        <p:spPr>
          <a:xfrm rot="16200000">
            <a:off x="1755948" y="6818358"/>
            <a:ext cx="36209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S234 (Leccino X </a:t>
            </a: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Ogliarola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s.)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EACE427-3B86-D503-57E7-C2F6AE07DFDB}"/>
              </a:ext>
            </a:extLst>
          </p:cNvPr>
          <p:cNvSpPr txBox="1"/>
          <p:nvPr/>
        </p:nvSpPr>
        <p:spPr>
          <a:xfrm rot="16200000">
            <a:off x="2220290" y="2651548"/>
            <a:ext cx="343092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Cellina di Nardò  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6CC1FCA-1CCB-F5FB-9E78-F6F239C5F1F0}"/>
              </a:ext>
            </a:extLst>
          </p:cNvPr>
          <p:cNvCxnSpPr>
            <a:cxnSpLocks/>
          </p:cNvCxnSpPr>
          <p:nvPr/>
        </p:nvCxnSpPr>
        <p:spPr>
          <a:xfrm>
            <a:off x="1160585" y="1798726"/>
            <a:ext cx="228600" cy="7913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D57D7059-8C4A-6EE2-E863-3539DBD4CE72}"/>
              </a:ext>
            </a:extLst>
          </p:cNvPr>
          <p:cNvCxnSpPr>
            <a:cxnSpLocks/>
          </p:cNvCxnSpPr>
          <p:nvPr/>
        </p:nvCxnSpPr>
        <p:spPr>
          <a:xfrm flipH="1">
            <a:off x="2831123" y="2194380"/>
            <a:ext cx="217779" cy="6403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86FA119-517F-09BF-0963-3EE4909F4F2B}"/>
              </a:ext>
            </a:extLst>
          </p:cNvPr>
          <p:cNvCxnSpPr>
            <a:cxnSpLocks/>
          </p:cNvCxnSpPr>
          <p:nvPr/>
        </p:nvCxnSpPr>
        <p:spPr>
          <a:xfrm flipV="1">
            <a:off x="946258" y="5554440"/>
            <a:ext cx="208147" cy="658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00B2085F-82A0-06C2-8D33-FD12C9E876F1}"/>
              </a:ext>
            </a:extLst>
          </p:cNvPr>
          <p:cNvCxnSpPr>
            <a:cxnSpLocks/>
          </p:cNvCxnSpPr>
          <p:nvPr/>
        </p:nvCxnSpPr>
        <p:spPr>
          <a:xfrm>
            <a:off x="5097890" y="5425486"/>
            <a:ext cx="634695" cy="259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3516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15051</TotalTime>
  <Words>107</Words>
  <Application>Microsoft Office PowerPoint</Application>
  <PresentationFormat>A4 (21x29,7 cm)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ANNALISA GIAMPETRUZZI</dc:creator>
  <cp:lastModifiedBy>ANNALISA GIAMPETRUZZI</cp:lastModifiedBy>
  <cp:revision>31</cp:revision>
  <dcterms:created xsi:type="dcterms:W3CDTF">2024-01-29T16:20:00Z</dcterms:created>
  <dcterms:modified xsi:type="dcterms:W3CDTF">2024-08-09T14:37:40Z</dcterms:modified>
</cp:coreProperties>
</file>